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4" r:id="rId2"/>
    <p:sldId id="268" r:id="rId3"/>
    <p:sldId id="269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630"/>
    <a:srgbClr val="52CBBE"/>
    <a:srgbClr val="FF5969"/>
    <a:srgbClr val="800000"/>
    <a:srgbClr val="F0EEF0"/>
    <a:srgbClr val="00A0A8"/>
    <a:srgbClr val="5D7373"/>
    <a:srgbClr val="52C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9143" autoAdjust="0"/>
  </p:normalViewPr>
  <p:slideViewPr>
    <p:cSldViewPr snapToGrid="0">
      <p:cViewPr>
        <p:scale>
          <a:sx n="91" d="100"/>
          <a:sy n="91" d="100"/>
        </p:scale>
        <p:origin x="-523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39722-0293-4FDD-BB36-8E4E4A1A2594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63CFA-F315-43F2-8295-52C58F0475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885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63CFA-F315-43F2-8295-52C58F04759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905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6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36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3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77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33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95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00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89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3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11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AF59-80FD-42F8-B77B-6179688B7234}" type="datetimeFigureOut">
              <a:rPr lang="de-DE" smtClean="0"/>
              <a:t>03.05.2023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87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EB0FD16-689C-476C-8309-C7173C257513}"/>
              </a:ext>
            </a:extLst>
          </p:cNvPr>
          <p:cNvSpPr txBox="1"/>
          <p:nvPr/>
        </p:nvSpPr>
        <p:spPr>
          <a:xfrm>
            <a:off x="3380764" y="749641"/>
            <a:ext cx="79779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y-AM" sz="6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մթնոլորտի </a:t>
            </a:r>
            <a:r>
              <a:rPr lang="hy-AM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պահպանում</a:t>
            </a:r>
            <a:r>
              <a:rPr lang="hy-AM" sz="6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ը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312CB825-EAFB-4901-8C7E-D5477E0D31C8}"/>
              </a:ext>
            </a:extLst>
          </p:cNvPr>
          <p:cNvGrpSpPr/>
          <p:nvPr/>
        </p:nvGrpSpPr>
        <p:grpSpPr>
          <a:xfrm>
            <a:off x="4167439" y="3428999"/>
            <a:ext cx="6362477" cy="694284"/>
            <a:chOff x="4679586" y="878988"/>
            <a:chExt cx="1745757" cy="1905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A88C5CD2-8D88-4E1A-968C-C3E256B4316C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xmlns="" id="{39CA212B-3524-454E-9129-17FD0E8983F0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xmlns="" id="{6487D07D-4424-43AA-9CF5-4A04A38B6C2D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51E021E3-C26E-4AB9-81EB-239E3D1BBAB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xmlns="" id="{85AD4D6E-2D38-486B-8F61-738D1E4773C2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xmlns="" id="{D88F111D-10A0-4CCB-B20B-B33508AA6193}"/>
                </a:ext>
              </a:extLst>
            </p:cNvPr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8611077" y="-2"/>
            <a:ext cx="12482920" cy="6858000"/>
            <a:chOff x="-181863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181863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13265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47583" y="3320409"/>
              <a:ext cx="235066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1900" b="1" dirty="0" smtClean="0">
                  <a:solidFill>
                    <a:schemeClr val="bg1"/>
                  </a:solidFill>
                </a:rPr>
                <a:t>նշանակությունը</a:t>
              </a:r>
              <a:endParaRPr lang="en-US" sz="19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-8229055" y="-2"/>
            <a:ext cx="11559876" cy="6858001"/>
            <a:chOff x="213096" y="0"/>
            <a:chExt cx="11447501" cy="6858000"/>
          </a:xfrm>
        </p:grpSpPr>
        <p:sp>
          <p:nvSpPr>
            <p:cNvPr id="58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169249" y="3345099"/>
              <a:ext cx="24462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200" b="1" dirty="0">
                  <a:solidFill>
                    <a:srgbClr val="F0EEF0"/>
                  </a:solidFill>
                </a:rPr>
                <a:t> աղտոտումը</a:t>
              </a:r>
              <a:endParaRPr lang="en-US" sz="2200" b="1" dirty="0">
                <a:solidFill>
                  <a:srgbClr val="F0EEF0"/>
                </a:solidFill>
              </a:endParaRPr>
            </a:p>
          </p:txBody>
        </p:sp>
        <p:pic>
          <p:nvPicPr>
            <p:cNvPr id="62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3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-7277910" y="-2"/>
            <a:ext cx="10058876" cy="6858001"/>
            <a:chOff x="491575" y="0"/>
            <a:chExt cx="9961092" cy="6858000"/>
          </a:xfrm>
        </p:grpSpPr>
        <p:sp>
          <p:nvSpPr>
            <p:cNvPr id="64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23797" y="3329712"/>
              <a:ext cx="2446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300" b="1" dirty="0" smtClean="0">
                  <a:solidFill>
                    <a:schemeClr val="bg1"/>
                  </a:solidFill>
                </a:rPr>
                <a:t>պահպանումը</a:t>
              </a:r>
              <a:endParaRPr lang="en-US" sz="23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7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8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415313" y="-2"/>
            <a:ext cx="9668079" cy="6858001"/>
            <a:chOff x="491575" y="0"/>
            <a:chExt cx="9574094" cy="6858000"/>
          </a:xfrm>
        </p:grpSpPr>
        <p:sp>
          <p:nvSpPr>
            <p:cNvPr id="69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567165" y="3281939"/>
              <a:ext cx="235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400" b="1" dirty="0" smtClean="0">
                  <a:solidFill>
                    <a:schemeClr val="bg1"/>
                  </a:solidFill>
                </a:rPr>
                <a:t>վտանգ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2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3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068814" y="-2"/>
            <a:ext cx="8777660" cy="6858001"/>
            <a:chOff x="718505" y="-1"/>
            <a:chExt cx="8692331" cy="6858000"/>
          </a:xfrm>
        </p:grpSpPr>
        <p:sp>
          <p:nvSpPr>
            <p:cNvPr id="74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866080" y="3275533"/>
              <a:ext cx="24776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chemeClr val="bg1"/>
                  </a:solidFill>
                  <a:latin typeface="Arial Armenian" pitchFamily="34" charset="0"/>
                </a:rPr>
                <a:t>ա</a:t>
              </a:r>
              <a:r>
                <a:rPr lang="hy-AM" sz="2200" b="1" dirty="0" smtClean="0">
                  <a:solidFill>
                    <a:schemeClr val="bg1"/>
                  </a:solidFill>
                </a:rPr>
                <a:t>ղտոտում</a:t>
              </a:r>
              <a:endParaRPr lang="en-US" sz="2200" b="1" dirty="0">
                <a:solidFill>
                  <a:schemeClr val="bg1"/>
                </a:solidFill>
                <a:latin typeface="Arial Armenian" pitchFamily="34" charset="0"/>
              </a:endParaRPr>
            </a:p>
          </p:txBody>
        </p:sp>
        <p:pic>
          <p:nvPicPr>
            <p:cNvPr id="77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8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8823805" y="-2"/>
            <a:ext cx="10024958" cy="6858001"/>
            <a:chOff x="-9337032" y="-1"/>
            <a:chExt cx="9927504" cy="6858000"/>
          </a:xfrm>
        </p:grpSpPr>
        <p:sp>
          <p:nvSpPr>
            <p:cNvPr id="79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81940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2400" b="1" dirty="0">
                <a:solidFill>
                  <a:srgbClr val="F0EEF0"/>
                </a:solidFill>
                <a:latin typeface="Arial Armenian" pitchFamily="34" charset="0"/>
              </a:endParaRPr>
            </a:p>
          </p:txBody>
        </p:sp>
        <p:pic>
          <p:nvPicPr>
            <p:cNvPr id="82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18">
            <a:extLst>
              <a:ext uri="{FF2B5EF4-FFF2-40B4-BE49-F238E27FC236}">
                <a16:creationId xmlns:lc="http://schemas.openxmlformats.org/drawingml/2006/lockedCanvas" xmlns=""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181863" y="0"/>
            <a:chExt cx="12482920" cy="6858000"/>
          </a:xfrm>
        </p:grpSpPr>
        <p:sp>
          <p:nvSpPr>
            <p:cNvPr id="80" name="Rectangle 19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181863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3" name="Freeform: Shape 20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129999" y="2337442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" name="TextBox 54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47583" y="3320409"/>
              <a:ext cx="235066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y-AM" sz="1900" b="1" dirty="0" smtClean="0">
                  <a:solidFill>
                    <a:schemeClr val="bg1"/>
                  </a:solidFill>
                </a:rPr>
                <a:t>նշանակությունը</a:t>
              </a:r>
              <a:endParaRPr lang="en-US" sz="19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5" name="Picture 22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" name="Прямоугольник 2"/>
          <p:cNvSpPr/>
          <p:nvPr/>
        </p:nvSpPr>
        <p:spPr>
          <a:xfrm>
            <a:off x="3865203" y="1257484"/>
            <a:ext cx="693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Մթնոլորտի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դերն ու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նշանակությունը մարդու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կյանքում և ընդհանրապես Երկիր մոլորակի համար անգնահատելի են: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438560" y="258785"/>
            <a:ext cx="866765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y-AM" sz="3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Մթնոլորտի դերն ու </a:t>
            </a:r>
            <a:r>
              <a:rPr lang="hy-AM" sz="3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նշանակությունը</a:t>
            </a:r>
            <a:endParaRPr lang="ru-RU" sz="3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0" name="Picture 22">
            <a:extLst>
              <a:ext uri="{FF2B5EF4-FFF2-40B4-BE49-F238E27FC236}">
                <a16:creationId xmlns:a16="http://schemas.microsoft.com/office/drawing/2014/main" xmlns="" id="{E8AD023B-AE8D-405F-90E6-27B0D47079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8119" y="3247473"/>
            <a:ext cx="530600" cy="530600"/>
          </a:xfrm>
          <a:prstGeom prst="rect">
            <a:avLst/>
          </a:prstGeom>
        </p:spPr>
      </p:pic>
      <p:sp>
        <p:nvSpPr>
          <p:cNvPr id="87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3865201" y="2065714"/>
            <a:ext cx="69350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Մթնոլորտր մեր մոլորակր պաշտպանում է հսկա երկնաքարերից և Արեգակից Երկիր ներխուժող ուլտրամանուշակագույն ճառագայթումից: Մթնոլորտի շնորհիվ է, որ տեղի է ունենում ջրի շրջապտույտը: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65201" y="34290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Առանձնակի կարևոր է մթնոլորտի դերը մարդու կյանքում: Առանց օդի մարդը կարող է ապրել րնդամենը րոպեներ: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65203" y="453923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Ուստի մոլորակի յուրաքանչյուր բնակչի պարտքն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է անաղարտ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պահել մթնոլորտը, որպեսզի Երկրի վրա կյանքը շարունակվի: Մթնոլորտի աղտոտումը կատարվում է երկու ճանապարհով՝ բնական և մարդածին: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06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-8229055" y="-2"/>
            <a:ext cx="11559876" cy="6858001"/>
            <a:chOff x="213096" y="0"/>
            <a:chExt cx="11447501" cy="6858000"/>
          </a:xfrm>
        </p:grpSpPr>
        <p:sp>
          <p:nvSpPr>
            <p:cNvPr id="107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169249" y="3345099"/>
              <a:ext cx="24462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200" b="1" dirty="0">
                  <a:solidFill>
                    <a:srgbClr val="F0EEF0"/>
                  </a:solidFill>
                </a:rPr>
                <a:t> աղտոտումը</a:t>
              </a:r>
              <a:endParaRPr lang="en-US" sz="2200" b="1" dirty="0">
                <a:solidFill>
                  <a:srgbClr val="F0EEF0"/>
                </a:solidFill>
              </a:endParaRPr>
            </a:p>
          </p:txBody>
        </p:sp>
        <p:pic>
          <p:nvPicPr>
            <p:cNvPr id="110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1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-7277910" y="-2"/>
            <a:ext cx="10058876" cy="6858001"/>
            <a:chOff x="491575" y="0"/>
            <a:chExt cx="9961092" cy="6858000"/>
          </a:xfrm>
        </p:grpSpPr>
        <p:sp>
          <p:nvSpPr>
            <p:cNvPr id="112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23797" y="3329712"/>
              <a:ext cx="2446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300" b="1" dirty="0" smtClean="0">
                  <a:solidFill>
                    <a:schemeClr val="bg1"/>
                  </a:solidFill>
                </a:rPr>
                <a:t>պահպանումը</a:t>
              </a:r>
              <a:endParaRPr lang="en-US" sz="23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15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6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415313" y="-2"/>
            <a:ext cx="9668079" cy="6858001"/>
            <a:chOff x="491575" y="0"/>
            <a:chExt cx="9574094" cy="6858000"/>
          </a:xfrm>
        </p:grpSpPr>
        <p:sp>
          <p:nvSpPr>
            <p:cNvPr id="117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567165" y="3281939"/>
              <a:ext cx="235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400" b="1" dirty="0" smtClean="0">
                  <a:solidFill>
                    <a:schemeClr val="bg1"/>
                  </a:solidFill>
                </a:rPr>
                <a:t>վտանգ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20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21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068814" y="-2"/>
            <a:ext cx="8777660" cy="6858001"/>
            <a:chOff x="718505" y="-1"/>
            <a:chExt cx="8692331" cy="6858000"/>
          </a:xfrm>
        </p:grpSpPr>
        <p:sp>
          <p:nvSpPr>
            <p:cNvPr id="122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866080" y="3275533"/>
              <a:ext cx="24776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chemeClr val="bg1"/>
                  </a:solidFill>
                  <a:latin typeface="Arial Armenian" pitchFamily="34" charset="0"/>
                </a:rPr>
                <a:t>ա</a:t>
              </a:r>
              <a:r>
                <a:rPr lang="hy-AM" sz="2200" b="1" dirty="0" smtClean="0">
                  <a:solidFill>
                    <a:schemeClr val="bg1"/>
                  </a:solidFill>
                </a:rPr>
                <a:t>ղտոտում</a:t>
              </a:r>
              <a:endParaRPr lang="en-US" sz="2200" b="1" dirty="0">
                <a:solidFill>
                  <a:schemeClr val="bg1"/>
                </a:solidFill>
                <a:latin typeface="Arial Armenian" pitchFamily="34" charset="0"/>
              </a:endParaRPr>
            </a:p>
          </p:txBody>
        </p:sp>
        <p:pic>
          <p:nvPicPr>
            <p:cNvPr id="125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26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8823805" y="-2"/>
            <a:ext cx="10024958" cy="6858001"/>
            <a:chOff x="-9337032" y="-1"/>
            <a:chExt cx="9927504" cy="6858000"/>
          </a:xfrm>
        </p:grpSpPr>
        <p:sp>
          <p:nvSpPr>
            <p:cNvPr id="127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81940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2400" b="1" dirty="0">
                <a:solidFill>
                  <a:srgbClr val="F0EEF0"/>
                </a:solidFill>
                <a:latin typeface="Arial Armenian" pitchFamily="34" charset="0"/>
              </a:endParaRPr>
            </a:p>
          </p:txBody>
        </p:sp>
        <p:pic>
          <p:nvPicPr>
            <p:cNvPr id="130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18">
            <a:extLst>
              <a:ext uri="{FF2B5EF4-FFF2-40B4-BE49-F238E27FC236}">
                <a16:creationId xmlns:lc="http://schemas.openxmlformats.org/drawingml/2006/lockedCanvas" xmlns=""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290920" y="-2"/>
            <a:ext cx="12482920" cy="6858000"/>
            <a:chOff x="-181863" y="0"/>
            <a:chExt cx="12482920" cy="6858000"/>
          </a:xfrm>
        </p:grpSpPr>
        <p:sp>
          <p:nvSpPr>
            <p:cNvPr id="83" name="Rectangle 19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181863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4" name="Freeform: Shape 20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13265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5" name="TextBox 54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47583" y="3320409"/>
              <a:ext cx="235066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y-AM" sz="1900" b="1" dirty="0" smtClean="0">
                  <a:solidFill>
                    <a:schemeClr val="bg1"/>
                  </a:solidFill>
                </a:rPr>
                <a:t>նշանակությունը</a:t>
              </a:r>
              <a:endParaRPr lang="en-US" sz="19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6" name="Picture 22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0" name="Group 23">
            <a:extLst>
              <a:ext uri="{FF2B5EF4-FFF2-40B4-BE49-F238E27FC236}">
                <a16:creationId xmlns:lc="http://schemas.openxmlformats.org/drawingml/2006/lockedCanvas" xmlns=""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91102" y="-2"/>
            <a:ext cx="11559876" cy="6858001"/>
            <a:chOff x="213096" y="0"/>
            <a:chExt cx="11447501" cy="6858000"/>
          </a:xfrm>
        </p:grpSpPr>
        <p:sp>
          <p:nvSpPr>
            <p:cNvPr id="71" name="Rectangle 24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2" name="Freeform: Shape 25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1" name="TextBox 59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169249" y="3345099"/>
              <a:ext cx="24462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y-AM" sz="2200" b="1" dirty="0">
                  <a:solidFill>
                    <a:srgbClr val="F0EEF0"/>
                  </a:solidFill>
                </a:rPr>
                <a:t> աղտոտումը</a:t>
              </a:r>
              <a:endParaRPr lang="en-US" sz="2200" b="1" dirty="0">
                <a:solidFill>
                  <a:srgbClr val="F0EEF0"/>
                </a:solidFill>
              </a:endParaRPr>
            </a:p>
          </p:txBody>
        </p:sp>
        <p:pic>
          <p:nvPicPr>
            <p:cNvPr id="82" name="Picture 27">
              <a:extLst>
                <a:ext uri="{FF2B5EF4-FFF2-40B4-BE49-F238E27FC236}">
                  <a16:creationId xmlns:lc="http://schemas.openxmlformats.org/drawingml/2006/lockedCanvas" xmlns=""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B38973E8-8FEC-48EF-89C3-A1086AD31515}"/>
              </a:ext>
            </a:extLst>
          </p:cNvPr>
          <p:cNvSpPr txBox="1"/>
          <p:nvPr/>
        </p:nvSpPr>
        <p:spPr>
          <a:xfrm>
            <a:off x="8083100" y="3455581"/>
            <a:ext cx="1591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pic>
        <p:nvPicPr>
          <p:cNvPr id="73" name="Picture 27">
            <a:extLst>
              <a:ext uri="{FF2B5EF4-FFF2-40B4-BE49-F238E27FC236}">
                <a16:creationId xmlns:a16="http://schemas.microsoft.com/office/drawing/2014/main" xmlns="" id="{2B44F548-697F-412D-9B99-861C27246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89053" y="3247473"/>
            <a:ext cx="530600" cy="530600"/>
          </a:xfrm>
          <a:prstGeom prst="rect">
            <a:avLst/>
          </a:prstGeom>
        </p:spPr>
      </p:pic>
      <p:sp>
        <p:nvSpPr>
          <p:cNvPr id="113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5033264" y="299799"/>
            <a:ext cx="26741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Աղտոտումը</a:t>
            </a:r>
            <a:endParaRPr lang="ru-RU" sz="3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221372" y="1213008"/>
            <a:ext cx="70215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Բնական աղտոտման աղբյուրներն են հրաբուխները, փոշեհողմը, ան­տառների հրդեհը և այլ բնական երեույթները: Մարդածին աղտոտման աղբյուրներն են արդյունաբերությունը,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գյուղատնտեսությունը և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տրանսպորտը: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21372" y="2647308"/>
            <a:ext cx="70215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Մթնոլորտի աղտոտման ամենամեծ բաժինր պատկանում է տրանս­պորտին, մասնավորապես՝ ավտոմոբիլայինին, որն արտանետում է մեծ քանակությամբ ածխաթթու գազ: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221372" y="3852649"/>
            <a:ext cx="70215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Մթնոլորտի աղտոտման մյուս խոշոր աղբյուրն արդյունաբերությունն է, մասնավորապես՝ քիմիականը, վառելիքայինը, մետաղաձուլությունը և այլն: Մթնոլորտն աղտոտվում է նաև գյուղատնտեսության մեջ օգտագործ­վող թունաքիմիկատներով, օրգանական նյութերի այրումից առաջացած գազերով: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87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-7277910" y="-2"/>
            <a:ext cx="10058876" cy="6858001"/>
            <a:chOff x="491575" y="0"/>
            <a:chExt cx="9961092" cy="6858000"/>
          </a:xfrm>
        </p:grpSpPr>
        <p:sp>
          <p:nvSpPr>
            <p:cNvPr id="88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23797" y="3329712"/>
              <a:ext cx="2446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300" b="1" dirty="0" smtClean="0">
                  <a:solidFill>
                    <a:schemeClr val="bg1"/>
                  </a:solidFill>
                </a:rPr>
                <a:t>պահպանումը</a:t>
              </a:r>
              <a:endParaRPr lang="en-US" sz="23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1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2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415313" y="-2"/>
            <a:ext cx="9668079" cy="6858001"/>
            <a:chOff x="491575" y="0"/>
            <a:chExt cx="9574094" cy="6858000"/>
          </a:xfrm>
        </p:grpSpPr>
        <p:sp>
          <p:nvSpPr>
            <p:cNvPr id="93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567165" y="3281939"/>
              <a:ext cx="235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400" b="1" dirty="0" smtClean="0">
                  <a:solidFill>
                    <a:schemeClr val="bg1"/>
                  </a:solidFill>
                </a:rPr>
                <a:t>վտանգ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7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8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068814" y="-2"/>
            <a:ext cx="8777660" cy="6858001"/>
            <a:chOff x="718505" y="-1"/>
            <a:chExt cx="8692331" cy="6858000"/>
          </a:xfrm>
        </p:grpSpPr>
        <p:sp>
          <p:nvSpPr>
            <p:cNvPr id="99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866080" y="3275533"/>
              <a:ext cx="24776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chemeClr val="bg1"/>
                  </a:solidFill>
                  <a:latin typeface="Arial Armenian" pitchFamily="34" charset="0"/>
                </a:rPr>
                <a:t>ա</a:t>
              </a:r>
              <a:r>
                <a:rPr lang="hy-AM" sz="2200" b="1" dirty="0" smtClean="0">
                  <a:solidFill>
                    <a:schemeClr val="bg1"/>
                  </a:solidFill>
                </a:rPr>
                <a:t>ղտոտում</a:t>
              </a:r>
              <a:endParaRPr lang="en-US" sz="2200" b="1" dirty="0">
                <a:solidFill>
                  <a:schemeClr val="bg1"/>
                </a:solidFill>
                <a:latin typeface="Arial Armenian" pitchFamily="34" charset="0"/>
              </a:endParaRPr>
            </a:p>
          </p:txBody>
        </p:sp>
        <p:pic>
          <p:nvPicPr>
            <p:cNvPr id="102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3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8823805" y="-2"/>
            <a:ext cx="10024958" cy="6858001"/>
            <a:chOff x="-9337032" y="-1"/>
            <a:chExt cx="9927504" cy="6858000"/>
          </a:xfrm>
        </p:grpSpPr>
        <p:sp>
          <p:nvSpPr>
            <p:cNvPr id="104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81940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2400" b="1" dirty="0">
                <a:solidFill>
                  <a:srgbClr val="F0EEF0"/>
                </a:solidFill>
                <a:latin typeface="Arial Armenian" pitchFamily="34" charset="0"/>
              </a:endParaRPr>
            </a:p>
          </p:txBody>
        </p:sp>
        <p:pic>
          <p:nvPicPr>
            <p:cNvPr id="107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694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3671" y="-2"/>
            <a:ext cx="12482920" cy="6858000"/>
            <a:chOff x="-181863" y="0"/>
            <a:chExt cx="12482920" cy="6858000"/>
          </a:xfrm>
        </p:grpSpPr>
        <p:sp>
          <p:nvSpPr>
            <p:cNvPr id="53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181863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13265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47583" y="3320409"/>
              <a:ext cx="235066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1900" b="1" dirty="0" smtClean="0">
                  <a:solidFill>
                    <a:schemeClr val="bg1"/>
                  </a:solidFill>
                </a:rPr>
                <a:t>նշանակությունը</a:t>
              </a:r>
              <a:endParaRPr lang="en-US" sz="19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6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7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88351" y="-2"/>
            <a:ext cx="11559876" cy="6858001"/>
            <a:chOff x="213096" y="0"/>
            <a:chExt cx="11447501" cy="6858000"/>
          </a:xfrm>
        </p:grpSpPr>
        <p:sp>
          <p:nvSpPr>
            <p:cNvPr id="58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169249" y="3345099"/>
              <a:ext cx="24462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200" b="1" dirty="0">
                  <a:solidFill>
                    <a:srgbClr val="F0EEF0"/>
                  </a:solidFill>
                </a:rPr>
                <a:t> աղտոտումը</a:t>
              </a:r>
              <a:endParaRPr lang="en-US" sz="2200" b="1" dirty="0">
                <a:solidFill>
                  <a:srgbClr val="F0EEF0"/>
                </a:solidFill>
              </a:endParaRPr>
            </a:p>
          </p:txBody>
        </p:sp>
        <p:pic>
          <p:nvPicPr>
            <p:cNvPr id="61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2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1066501" y="-2"/>
            <a:ext cx="10058876" cy="6858001"/>
            <a:chOff x="491575" y="0"/>
            <a:chExt cx="9961092" cy="6858000"/>
          </a:xfrm>
        </p:grpSpPr>
        <p:sp>
          <p:nvSpPr>
            <p:cNvPr id="63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23797" y="3329712"/>
              <a:ext cx="2446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300" b="1" dirty="0" smtClean="0">
                  <a:solidFill>
                    <a:schemeClr val="bg1"/>
                  </a:solidFill>
                </a:rPr>
                <a:t>պահպանումը</a:t>
              </a:r>
              <a:endParaRPr lang="en-US" sz="23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6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118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3289394" y="215909"/>
            <a:ext cx="54687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Մթնոլորտի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պահպանում</a:t>
            </a:r>
            <a:endParaRPr lang="ru-RU" sz="3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84478" y="1983693"/>
            <a:ext cx="69041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Անհրաժեշտ է էներգիայի ավանդական աղբյուրների օգտագործումից աստիճանաբար անցնել Արեգակի, քամու էներգիայի օգտագործմանը,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որոնք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չեն աղտոտում մթնոլորտը: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684478" y="3086903"/>
            <a:ext cx="69041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Քանի որ ավտոմոբիլային տրանսպորտը մթնոլորտի ամենամեծ աղ­տոտողն է, ուստի այսօր հսկայական աշխատանքներ են կատարվում ավ­տոմեքենաների շարժիչների տեխնիկական կառուցվածքր բարելավելու ուղ­ղությամբ: Դրա շնորհիվ՝ կնվազի թունավոր արտանետումների քանակը: Մթնոլորտի մաքրության պահպանման գործում անփոխարինելի դեր են կատարում անտառները, բնակավայրերի կանաչ գոտիները, զբոսայգիները, պուրակները: Ուստի անհրաժեշտ է ոչ միայն դրանք պահպանել, այլև՝ աստիճանաբար րնդարձակել: Անտառները ոչ միայն օդր հարստաց­նում են թթվածնով, այլև՝ իրենց սաղարթով կլանում են փոշու, մրի և այլ նյութերի մասնիկները: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84479" y="1134422"/>
            <a:ext cx="7730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Մթնոլորտի անաղարտության պահպանման հիմնական ուղին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չաղտոտելն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է: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67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-7415313" y="-2"/>
            <a:ext cx="9668079" cy="6858001"/>
            <a:chOff x="491575" y="0"/>
            <a:chExt cx="9574094" cy="6858000"/>
          </a:xfrm>
        </p:grpSpPr>
        <p:sp>
          <p:nvSpPr>
            <p:cNvPr id="68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567165" y="3281939"/>
              <a:ext cx="235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400" b="1" dirty="0" smtClean="0">
                  <a:solidFill>
                    <a:schemeClr val="bg1"/>
                  </a:solidFill>
                </a:rPr>
                <a:t>վտանգ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1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2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068814" y="-2"/>
            <a:ext cx="8777660" cy="6858001"/>
            <a:chOff x="718505" y="-1"/>
            <a:chExt cx="8692331" cy="6858000"/>
          </a:xfrm>
        </p:grpSpPr>
        <p:sp>
          <p:nvSpPr>
            <p:cNvPr id="73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866080" y="3275533"/>
              <a:ext cx="24776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chemeClr val="bg1"/>
                  </a:solidFill>
                  <a:latin typeface="Arial Armenian" pitchFamily="34" charset="0"/>
                </a:rPr>
                <a:t>ա</a:t>
              </a:r>
              <a:r>
                <a:rPr lang="hy-AM" sz="2200" b="1" dirty="0" smtClean="0">
                  <a:solidFill>
                    <a:schemeClr val="bg1"/>
                  </a:solidFill>
                </a:rPr>
                <a:t>ղտոտում</a:t>
              </a:r>
              <a:endParaRPr lang="en-US" sz="2200" b="1" dirty="0">
                <a:solidFill>
                  <a:schemeClr val="bg1"/>
                </a:solidFill>
                <a:latin typeface="Arial Armenian" pitchFamily="34" charset="0"/>
              </a:endParaRPr>
            </a:p>
          </p:txBody>
        </p:sp>
        <p:pic>
          <p:nvPicPr>
            <p:cNvPr id="76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7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8823805" y="-2"/>
            <a:ext cx="10024958" cy="6858001"/>
            <a:chOff x="-9337032" y="-1"/>
            <a:chExt cx="9927504" cy="6858000"/>
          </a:xfrm>
        </p:grpSpPr>
        <p:sp>
          <p:nvSpPr>
            <p:cNvPr id="78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81940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2400" b="1" dirty="0">
                <a:solidFill>
                  <a:srgbClr val="F0EEF0"/>
                </a:solidFill>
                <a:latin typeface="Arial Armenian" pitchFamily="34" charset="0"/>
              </a:endParaRPr>
            </a:p>
          </p:txBody>
        </p:sp>
        <p:pic>
          <p:nvPicPr>
            <p:cNvPr id="81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449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16892"/>
            <a:ext cx="12482920" cy="6858000"/>
            <a:chOff x="-181863" y="0"/>
            <a:chExt cx="12482920" cy="6858000"/>
          </a:xfrm>
        </p:grpSpPr>
        <p:sp>
          <p:nvSpPr>
            <p:cNvPr id="106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181863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13265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47583" y="3320409"/>
              <a:ext cx="235066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1900" b="1" dirty="0" smtClean="0">
                  <a:solidFill>
                    <a:schemeClr val="bg1"/>
                  </a:solidFill>
                </a:rPr>
                <a:t>նշանակությունը</a:t>
              </a:r>
              <a:endParaRPr lang="en-US" sz="19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9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0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93853" y="8389"/>
            <a:ext cx="11559876" cy="6858001"/>
            <a:chOff x="213096" y="0"/>
            <a:chExt cx="11447501" cy="6858000"/>
          </a:xfrm>
        </p:grpSpPr>
        <p:sp>
          <p:nvSpPr>
            <p:cNvPr id="91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169249" y="3345099"/>
              <a:ext cx="24462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200" b="1" dirty="0">
                  <a:solidFill>
                    <a:srgbClr val="F0EEF0"/>
                  </a:solidFill>
                </a:rPr>
                <a:t> աղտոտումը</a:t>
              </a:r>
              <a:endParaRPr lang="en-US" sz="2200" b="1" dirty="0">
                <a:solidFill>
                  <a:srgbClr val="F0EEF0"/>
                </a:solidFill>
              </a:endParaRPr>
            </a:p>
          </p:txBody>
        </p:sp>
        <p:pic>
          <p:nvPicPr>
            <p:cNvPr id="94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5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1044998" y="8389"/>
            <a:ext cx="10058876" cy="6858001"/>
            <a:chOff x="491575" y="0"/>
            <a:chExt cx="9961092" cy="6858000"/>
          </a:xfrm>
        </p:grpSpPr>
        <p:sp>
          <p:nvSpPr>
            <p:cNvPr id="96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23797" y="3329712"/>
              <a:ext cx="2446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300" b="1" dirty="0" smtClean="0">
                  <a:solidFill>
                    <a:schemeClr val="bg1"/>
                  </a:solidFill>
                </a:rPr>
                <a:t>պահպանումը</a:t>
              </a:r>
              <a:endParaRPr lang="en-US" sz="23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9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0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907595" y="8389"/>
            <a:ext cx="9668079" cy="6858001"/>
            <a:chOff x="491575" y="0"/>
            <a:chExt cx="9574094" cy="6858000"/>
          </a:xfrm>
        </p:grpSpPr>
        <p:sp>
          <p:nvSpPr>
            <p:cNvPr id="101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567165" y="3281939"/>
              <a:ext cx="235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400" b="1" dirty="0" smtClean="0">
                  <a:solidFill>
                    <a:schemeClr val="bg1"/>
                  </a:solidFill>
                </a:rPr>
                <a:t>վտանգ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4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4" name="AutoShape 3" descr="{\displaystyle |n|-|e|+|f|=2}"/>
          <p:cNvSpPr>
            <a:spLocks noChangeAspect="1" noChangeArrowheads="1"/>
          </p:cNvSpPr>
          <p:nvPr/>
        </p:nvSpPr>
        <p:spPr bwMode="auto">
          <a:xfrm>
            <a:off x="6145213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{\displaystyle |n|,|e|}"/>
          <p:cNvSpPr>
            <a:spLocks noChangeAspect="1" noChangeArrowheads="1"/>
          </p:cNvSpPr>
          <p:nvPr/>
        </p:nvSpPr>
        <p:spPr bwMode="auto">
          <a:xfrm>
            <a:off x="6743700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5" descr="{\displaystyle |f|}"/>
          <p:cNvSpPr>
            <a:spLocks noChangeAspect="1" noChangeArrowheads="1"/>
          </p:cNvSpPr>
          <p:nvPr/>
        </p:nvSpPr>
        <p:spPr bwMode="auto">
          <a:xfrm>
            <a:off x="7005638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{\displaystyle n/2-10}"/>
          <p:cNvSpPr>
            <a:spLocks noChangeAspect="1" noChangeArrowheads="1"/>
          </p:cNvSpPr>
          <p:nvPr/>
        </p:nvSpPr>
        <p:spPr bwMode="auto">
          <a:xfrm>
            <a:off x="14805025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45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299658" y="1220329"/>
            <a:ext cx="8259436" cy="358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73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663673" y="147974"/>
            <a:ext cx="1847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4400" dirty="0"/>
          </a:p>
        </p:txBody>
      </p:sp>
      <p:sp>
        <p:nvSpPr>
          <p:cNvPr id="88" name="Rectangle 38">
            <a:extLst>
              <a:ext uri="{FF2B5EF4-FFF2-40B4-BE49-F238E27FC236}">
                <a16:creationId xmlns:a16="http://schemas.microsoft.com/office/drawing/2014/main" xmlns="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2038525" y="1229042"/>
            <a:ext cx="71977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Մթնոլորտ արտանետվող զանազան թունավոր գազերը, ծուխը, փոշին, մուրը և այլ նյութեր վտանգավոր են մարդկանց առողջության համար: Դրանք կարող են թափանցել մարդու շնչառական օրգանները և նույնիսկ քաղցկեղի պատճառ դառնալ: Այդ նյութերն առաջացնում են նաև մաշկային հիվանդու­թյուններ, վնասում նյարդային համակարգը: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38524" y="3152001"/>
            <a:ext cx="71977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Խոշոր քաղաքներում բնակչության առողջությունն ավելի է վտանգ­ված, որովհետե մթնոլորտն այդտեղ ավելի շատ է աղտոտված ավտոտ­րանսպորտի արտանետումներով: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253995" y="271084"/>
            <a:ext cx="19495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Վտանգ</a:t>
            </a:r>
            <a:endParaRPr lang="ru-RU" sz="36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038522" y="4286338"/>
            <a:ext cx="71977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Մթնոլորտի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պահպանումն 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առաջին հերթին ամբողջ բնության և, </a:t>
            </a:r>
            <a:r>
              <a:rPr lang="hy-AM" dirty="0" smtClean="0">
                <a:solidFill>
                  <a:schemeClr val="accent5">
                    <a:lumMod val="75000"/>
                  </a:schemeClr>
                </a:solidFill>
              </a:rPr>
              <a:t>ամենագլխավորը</a:t>
            </a:r>
            <a:r>
              <a:rPr lang="hy-AM" dirty="0">
                <a:solidFill>
                  <a:schemeClr val="accent5">
                    <a:lumMod val="75000"/>
                  </a:schemeClr>
                </a:solidFill>
              </a:rPr>
              <a:t>, մարդու առողջության գրավականն է: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44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-7066063" y="16894"/>
            <a:ext cx="8777660" cy="6858001"/>
            <a:chOff x="718505" y="-1"/>
            <a:chExt cx="8692331" cy="6858000"/>
          </a:xfrm>
        </p:grpSpPr>
        <p:sp>
          <p:nvSpPr>
            <p:cNvPr id="45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866080" y="3275533"/>
              <a:ext cx="24776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chemeClr val="bg1"/>
                  </a:solidFill>
                  <a:latin typeface="Arial Armenian" pitchFamily="34" charset="0"/>
                </a:rPr>
                <a:t>ա</a:t>
              </a:r>
              <a:r>
                <a:rPr lang="hy-AM" sz="2200" b="1" dirty="0" smtClean="0">
                  <a:solidFill>
                    <a:schemeClr val="bg1"/>
                  </a:solidFill>
                </a:rPr>
                <a:t>ղտոտում</a:t>
              </a:r>
              <a:endParaRPr lang="en-US" sz="2200" b="1" dirty="0">
                <a:solidFill>
                  <a:schemeClr val="bg1"/>
                </a:solidFill>
                <a:latin typeface="Arial Armenian" pitchFamily="34" charset="0"/>
              </a:endParaRPr>
            </a:p>
          </p:txBody>
        </p:sp>
        <p:pic>
          <p:nvPicPr>
            <p:cNvPr id="48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9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8821054" y="16894"/>
            <a:ext cx="10024958" cy="6858001"/>
            <a:chOff x="-9337032" y="-1"/>
            <a:chExt cx="9927504" cy="6858000"/>
          </a:xfrm>
        </p:grpSpPr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81940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2400" b="1" dirty="0">
                <a:solidFill>
                  <a:srgbClr val="F0EEF0"/>
                </a:solidFill>
                <a:latin typeface="Arial Armenian" pitchFamily="34" charset="0"/>
              </a:endParaRPr>
            </a:p>
          </p:txBody>
        </p:sp>
        <p:pic>
          <p:nvPicPr>
            <p:cNvPr id="53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520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1"/>
            <a:ext cx="12482920" cy="6858000"/>
            <a:chOff x="-181863" y="0"/>
            <a:chExt cx="12482920" cy="6858000"/>
          </a:xfrm>
        </p:grpSpPr>
        <p:sp>
          <p:nvSpPr>
            <p:cNvPr id="63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181863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13265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47583" y="3320409"/>
              <a:ext cx="235066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1900" b="1" dirty="0" smtClean="0">
                  <a:solidFill>
                    <a:schemeClr val="bg1"/>
                  </a:solidFill>
                </a:rPr>
                <a:t>նշանակությունը</a:t>
              </a:r>
              <a:endParaRPr lang="en-US" sz="19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6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7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91102" y="1"/>
            <a:ext cx="11559876" cy="6858001"/>
            <a:chOff x="213096" y="0"/>
            <a:chExt cx="11447501" cy="6858000"/>
          </a:xfrm>
        </p:grpSpPr>
        <p:sp>
          <p:nvSpPr>
            <p:cNvPr id="68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169249" y="3345099"/>
              <a:ext cx="24462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200" b="1" dirty="0">
                  <a:solidFill>
                    <a:srgbClr val="F0EEF0"/>
                  </a:solidFill>
                </a:rPr>
                <a:t> աղտոտումը</a:t>
              </a:r>
              <a:endParaRPr lang="en-US" sz="2200" b="1" dirty="0">
                <a:solidFill>
                  <a:srgbClr val="F0EEF0"/>
                </a:solidFill>
              </a:endParaRPr>
            </a:p>
          </p:txBody>
        </p:sp>
        <p:pic>
          <p:nvPicPr>
            <p:cNvPr id="72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3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1042247" y="1"/>
            <a:ext cx="10058876" cy="6858001"/>
            <a:chOff x="491575" y="0"/>
            <a:chExt cx="9961092" cy="6858000"/>
          </a:xfrm>
        </p:grpSpPr>
        <p:sp>
          <p:nvSpPr>
            <p:cNvPr id="74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23797" y="3329712"/>
              <a:ext cx="2446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300" b="1" dirty="0" smtClean="0">
                  <a:solidFill>
                    <a:schemeClr val="bg1"/>
                  </a:solidFill>
                </a:rPr>
                <a:t>պահպանումը</a:t>
              </a:r>
              <a:endParaRPr lang="en-US" sz="23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2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3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904844" y="1"/>
            <a:ext cx="9668079" cy="6858001"/>
            <a:chOff x="491575" y="0"/>
            <a:chExt cx="9574094" cy="6858000"/>
          </a:xfrm>
        </p:grpSpPr>
        <p:sp>
          <p:nvSpPr>
            <p:cNvPr id="84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567165" y="3281939"/>
              <a:ext cx="235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400" b="1" dirty="0" smtClean="0">
                  <a:solidFill>
                    <a:schemeClr val="bg1"/>
                  </a:solidFill>
                </a:rPr>
                <a:t>վտանգ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7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1251343" y="1"/>
            <a:ext cx="8777660" cy="6858001"/>
            <a:chOff x="718505" y="-1"/>
            <a:chExt cx="8692331" cy="6858000"/>
          </a:xfrm>
        </p:grpSpPr>
        <p:sp>
          <p:nvSpPr>
            <p:cNvPr id="96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866080" y="3275533"/>
              <a:ext cx="24776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chemeClr val="bg1"/>
                  </a:solidFill>
                  <a:latin typeface="Arial Armenian" pitchFamily="34" charset="0"/>
                </a:rPr>
                <a:t>ա</a:t>
              </a:r>
              <a:r>
                <a:rPr lang="hy-AM" sz="2200" b="1" dirty="0" smtClean="0">
                  <a:solidFill>
                    <a:schemeClr val="bg1"/>
                  </a:solidFill>
                </a:rPr>
                <a:t>ղտոտում</a:t>
              </a:r>
              <a:endParaRPr lang="en-US" sz="2200" b="1" dirty="0">
                <a:solidFill>
                  <a:schemeClr val="bg1"/>
                </a:solidFill>
                <a:latin typeface="Arial Armenian" pitchFamily="34" charset="0"/>
              </a:endParaRPr>
            </a:p>
          </p:txBody>
        </p:sp>
        <p:pic>
          <p:nvPicPr>
            <p:cNvPr id="99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2" name="Прямоугольник 1"/>
          <p:cNvSpPr/>
          <p:nvPr/>
        </p:nvSpPr>
        <p:spPr>
          <a:xfrm>
            <a:off x="1526796" y="473470"/>
            <a:ext cx="75165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1750" dirty="0" smtClean="0">
                <a:solidFill>
                  <a:schemeClr val="accent5">
                    <a:lumMod val="75000"/>
                  </a:schemeClr>
                </a:solidFill>
              </a:rPr>
              <a:t>Մթնոլորտային օդի վիճակը գնահատելու համար սահմանվում են մթնոլորտային օդն աղտոտող նյութերի սահմանային թույլատրելի կոնցենտրացիաների, սահմանային թույլատրելի արտանետումների և ֆիզիկական վնասակար ներգործությունների սահմանային թույլատրելի նորմատիվներ։</a:t>
            </a:r>
            <a:endParaRPr lang="ru-RU" sz="17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26797" y="2252141"/>
            <a:ext cx="75165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sz="1750" dirty="0">
                <a:solidFill>
                  <a:schemeClr val="accent5">
                    <a:lumMod val="75000"/>
                  </a:schemeClr>
                </a:solidFill>
              </a:rPr>
              <a:t>Արդյունաբերական ձեռնարկությունները, հիմնարկները և կազմակերպությունները, որոնց գործունեությունը կապված </a:t>
            </a:r>
            <a:r>
              <a:rPr lang="hy-AM" sz="1750" dirty="0" smtClean="0">
                <a:solidFill>
                  <a:schemeClr val="accent5">
                    <a:lumMod val="75000"/>
                  </a:schemeClr>
                </a:solidFill>
              </a:rPr>
              <a:t>է մթնոլորտային օդն աղտոտող</a:t>
            </a:r>
            <a:r>
              <a:rPr lang="hy-AM" sz="1750" dirty="0">
                <a:solidFill>
                  <a:schemeClr val="accent5">
                    <a:lumMod val="75000"/>
                  </a:schemeClr>
                </a:solidFill>
              </a:rPr>
              <a:t> նյութերի արտանետումների հետ, պարտավոր են միջոցներ ձեռնարկել աղտոտող նյութերի արտանետումները նվազեցնելու համար, ապահովել բնապահպանական կառույցների, սարքավորումների սարքինությունը, դրանց անընդմեջ և արդյունավետ աշխատանքը, ինչպես նաև սահմանված կարգով իրականացնել մթնոլոտային օդ արտանետվող նյութերի քանակի ու բաղադրության մշտական հաշվառում և չափումներ։ Մթնոլորտային օդի պահպանության միջոցառումները չպետք է հանգեցնեն </a:t>
            </a:r>
            <a:r>
              <a:rPr lang="hy-AM" sz="1750" dirty="0" smtClean="0">
                <a:solidFill>
                  <a:schemeClr val="accent5">
                    <a:lumMod val="75000"/>
                  </a:schemeClr>
                </a:solidFill>
              </a:rPr>
              <a:t>բնության</a:t>
            </a:r>
            <a:r>
              <a:rPr lang="hy-AM" sz="1750" dirty="0">
                <a:solidFill>
                  <a:schemeClr val="accent5">
                    <a:lumMod val="75000"/>
                  </a:schemeClr>
                </a:solidFill>
              </a:rPr>
              <a:t> մյուս ոլորտների աղտոտմանը։ </a:t>
            </a:r>
            <a:r>
              <a:rPr lang="hy-AM" sz="1750" dirty="0" smtClean="0">
                <a:solidFill>
                  <a:schemeClr val="accent5">
                    <a:lumMod val="75000"/>
                  </a:schemeClr>
                </a:solidFill>
              </a:rPr>
              <a:t>Տրանսպորտային</a:t>
            </a:r>
            <a:r>
              <a:rPr lang="hy-AM" sz="1750" dirty="0">
                <a:solidFill>
                  <a:schemeClr val="accent5">
                    <a:lumMod val="75000"/>
                  </a:schemeClr>
                </a:solidFill>
              </a:rPr>
              <a:t> միջոցներից աղտոտող նյութերի արտանետումների սահմանային թույլատրելի նորմատիվների պահպանումն ապահովելու նպատակով իրականացվում են այդ արտանետումների չափումներ, դրանց կրճատման և կանխման միջոցառումներ։</a:t>
            </a:r>
            <a:endParaRPr lang="ru-RU" sz="175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23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8827844" y="0"/>
            <a:ext cx="10024958" cy="6858001"/>
            <a:chOff x="-9337032" y="-1"/>
            <a:chExt cx="9927504" cy="6858000"/>
          </a:xfrm>
        </p:grpSpPr>
        <p:sp>
          <p:nvSpPr>
            <p:cNvPr id="124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81940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2400" b="1" dirty="0">
                <a:solidFill>
                  <a:srgbClr val="F0EEF0"/>
                </a:solidFill>
                <a:latin typeface="Arial Armenian" pitchFamily="34" charset="0"/>
              </a:endParaRPr>
            </a:p>
          </p:txBody>
        </p:sp>
        <p:pic>
          <p:nvPicPr>
            <p:cNvPr id="127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795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18">
            <a:extLst>
              <a:ext uri="{FF2B5EF4-FFF2-40B4-BE49-F238E27FC236}">
                <a16:creationId xmlns:a16="http://schemas.microsoft.com/office/drawing/2014/main" xmlns="" id="{C8A16B82-6A3C-46F5-8D32-072FDF89864A}"/>
              </a:ext>
            </a:extLst>
          </p:cNvPr>
          <p:cNvGrpSpPr/>
          <p:nvPr/>
        </p:nvGrpSpPr>
        <p:grpSpPr>
          <a:xfrm>
            <a:off x="-290920" y="1"/>
            <a:ext cx="12482920" cy="6858000"/>
            <a:chOff x="-181863" y="0"/>
            <a:chExt cx="12482920" cy="6858000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xmlns="" id="{2F391CEE-E392-4A9D-BD11-6954B994FB42}"/>
                </a:ext>
              </a:extLst>
            </p:cNvPr>
            <p:cNvSpPr/>
            <p:nvPr/>
          </p:nvSpPr>
          <p:spPr>
            <a:xfrm>
              <a:off x="-181863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: Shape 20">
              <a:extLst>
                <a:ext uri="{FF2B5EF4-FFF2-40B4-BE49-F238E27FC236}">
                  <a16:creationId xmlns:a16="http://schemas.microsoft.com/office/drawing/2014/main" xmlns="" id="{7AC43ACA-5000-40E2-80D3-19833F9F1A3F}"/>
                </a:ext>
              </a:extLst>
            </p:cNvPr>
            <p:cNvSpPr/>
            <p:nvPr/>
          </p:nvSpPr>
          <p:spPr>
            <a:xfrm>
              <a:off x="1113265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47583" y="3320409"/>
              <a:ext cx="235066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1900" b="1" dirty="0" smtClean="0">
                  <a:solidFill>
                    <a:schemeClr val="bg1"/>
                  </a:solidFill>
                </a:rPr>
                <a:t>նշանակությունը</a:t>
              </a:r>
              <a:endParaRPr lang="en-US" sz="19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8" name="Picture 22">
              <a:extLst>
                <a:ext uri="{FF2B5EF4-FFF2-40B4-BE49-F238E27FC236}">
                  <a16:creationId xmlns:a16="http://schemas.microsoft.com/office/drawing/2014/main" xmlns="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9" name="Group 23">
            <a:extLst>
              <a:ext uri="{FF2B5EF4-FFF2-40B4-BE49-F238E27FC236}">
                <a16:creationId xmlns:a16="http://schemas.microsoft.com/office/drawing/2014/main" xmlns="" id="{69A27401-3327-4871-86AC-B461CA62C3AC}"/>
              </a:ext>
            </a:extLst>
          </p:cNvPr>
          <p:cNvGrpSpPr/>
          <p:nvPr/>
        </p:nvGrpSpPr>
        <p:grpSpPr>
          <a:xfrm>
            <a:off x="91102" y="0"/>
            <a:ext cx="11559876" cy="6858001"/>
            <a:chOff x="213096" y="0"/>
            <a:chExt cx="11447501" cy="6858000"/>
          </a:xfrm>
        </p:grpSpPr>
        <p:sp>
          <p:nvSpPr>
            <p:cNvPr id="90" name="Rectangle 24">
              <a:extLst>
                <a:ext uri="{FF2B5EF4-FFF2-40B4-BE49-F238E27FC236}">
                  <a16:creationId xmlns:a16="http://schemas.microsoft.com/office/drawing/2014/main" xmlns="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: Shape 25">
              <a:extLst>
                <a:ext uri="{FF2B5EF4-FFF2-40B4-BE49-F238E27FC236}">
                  <a16:creationId xmlns:a16="http://schemas.microsoft.com/office/drawing/2014/main" xmlns="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169249" y="3345099"/>
              <a:ext cx="24462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200" b="1" dirty="0">
                  <a:solidFill>
                    <a:srgbClr val="F0EEF0"/>
                  </a:solidFill>
                </a:rPr>
                <a:t> աղտոտումը</a:t>
              </a:r>
              <a:endParaRPr lang="en-US" sz="2200" b="1" dirty="0">
                <a:solidFill>
                  <a:srgbClr val="F0EEF0"/>
                </a:solidFill>
              </a:endParaRPr>
            </a:p>
          </p:txBody>
        </p:sp>
        <p:pic>
          <p:nvPicPr>
            <p:cNvPr id="93" name="Picture 27">
              <a:extLst>
                <a:ext uri="{FF2B5EF4-FFF2-40B4-BE49-F238E27FC236}">
                  <a16:creationId xmlns:a16="http://schemas.microsoft.com/office/drawing/2014/main" xmlns="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4" name="Group 28">
            <a:extLst>
              <a:ext uri="{FF2B5EF4-FFF2-40B4-BE49-F238E27FC236}">
                <a16:creationId xmlns:a16="http://schemas.microsoft.com/office/drawing/2014/main" xmlns="" id="{C0099890-786A-4F87-960D-5DADE5168909}"/>
              </a:ext>
            </a:extLst>
          </p:cNvPr>
          <p:cNvGrpSpPr/>
          <p:nvPr/>
        </p:nvGrpSpPr>
        <p:grpSpPr>
          <a:xfrm>
            <a:off x="1042247" y="1"/>
            <a:ext cx="10058876" cy="6858001"/>
            <a:chOff x="491575" y="0"/>
            <a:chExt cx="9961092" cy="6858000"/>
          </a:xfrm>
        </p:grpSpPr>
        <p:sp>
          <p:nvSpPr>
            <p:cNvPr id="95" name="Rectangle 29">
              <a:extLst>
                <a:ext uri="{FF2B5EF4-FFF2-40B4-BE49-F238E27FC236}">
                  <a16:creationId xmlns:a16="http://schemas.microsoft.com/office/drawing/2014/main" xmlns="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: Shape 30">
              <a:extLst>
                <a:ext uri="{FF2B5EF4-FFF2-40B4-BE49-F238E27FC236}">
                  <a16:creationId xmlns:a16="http://schemas.microsoft.com/office/drawing/2014/main" xmlns="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23797" y="3329712"/>
              <a:ext cx="2446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300" b="1" dirty="0" smtClean="0">
                  <a:solidFill>
                    <a:schemeClr val="bg1"/>
                  </a:solidFill>
                </a:rPr>
                <a:t>պահպանումը</a:t>
              </a:r>
              <a:endParaRPr lang="en-US" sz="23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8" name="Picture 32">
              <a:extLst>
                <a:ext uri="{FF2B5EF4-FFF2-40B4-BE49-F238E27FC236}">
                  <a16:creationId xmlns:a16="http://schemas.microsoft.com/office/drawing/2014/main" xmlns="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9" name="Group 33">
            <a:extLst>
              <a:ext uri="{FF2B5EF4-FFF2-40B4-BE49-F238E27FC236}">
                <a16:creationId xmlns:a16="http://schemas.microsoft.com/office/drawing/2014/main" xmlns="" id="{0E4F6447-6163-4D6A-A8D2-BD63B6CB3A42}"/>
              </a:ext>
            </a:extLst>
          </p:cNvPr>
          <p:cNvGrpSpPr/>
          <p:nvPr/>
        </p:nvGrpSpPr>
        <p:grpSpPr>
          <a:xfrm>
            <a:off x="904844" y="1"/>
            <a:ext cx="9668079" cy="6858001"/>
            <a:chOff x="491575" y="0"/>
            <a:chExt cx="9574094" cy="6858000"/>
          </a:xfrm>
        </p:grpSpPr>
        <p:sp>
          <p:nvSpPr>
            <p:cNvPr id="100" name="Rectangle 34">
              <a:extLst>
                <a:ext uri="{FF2B5EF4-FFF2-40B4-BE49-F238E27FC236}">
                  <a16:creationId xmlns:a16="http://schemas.microsoft.com/office/drawing/2014/main" xmlns="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35">
              <a:extLst>
                <a:ext uri="{FF2B5EF4-FFF2-40B4-BE49-F238E27FC236}">
                  <a16:creationId xmlns:a16="http://schemas.microsoft.com/office/drawing/2014/main" xmlns="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xmlns="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567165" y="3281939"/>
              <a:ext cx="235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hy-AM" sz="2400" b="1" dirty="0" smtClean="0">
                  <a:solidFill>
                    <a:schemeClr val="bg1"/>
                  </a:solidFill>
                </a:rPr>
                <a:t>վտանգ</a:t>
              </a:r>
              <a:endParaRPr lang="en-US" sz="2400" b="1" dirty="0">
                <a:solidFill>
                  <a:schemeClr val="bg1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03" name="Picture 37">
              <a:extLst>
                <a:ext uri="{FF2B5EF4-FFF2-40B4-BE49-F238E27FC236}">
                  <a16:creationId xmlns:a16="http://schemas.microsoft.com/office/drawing/2014/main" xmlns="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4" name="Group 39">
            <a:extLst>
              <a:ext uri="{FF2B5EF4-FFF2-40B4-BE49-F238E27FC236}">
                <a16:creationId xmlns:a16="http://schemas.microsoft.com/office/drawing/2014/main" xmlns="" id="{3FD3EE0D-FD02-4885-9AC0-03F414A9888F}"/>
              </a:ext>
            </a:extLst>
          </p:cNvPr>
          <p:cNvGrpSpPr/>
          <p:nvPr/>
        </p:nvGrpSpPr>
        <p:grpSpPr>
          <a:xfrm>
            <a:off x="1251343" y="1"/>
            <a:ext cx="8777660" cy="6858001"/>
            <a:chOff x="718505" y="-1"/>
            <a:chExt cx="8692331" cy="6858000"/>
          </a:xfrm>
        </p:grpSpPr>
        <p:sp>
          <p:nvSpPr>
            <p:cNvPr id="105" name="Rectangle 40">
              <a:extLst>
                <a:ext uri="{FF2B5EF4-FFF2-40B4-BE49-F238E27FC236}">
                  <a16:creationId xmlns:a16="http://schemas.microsoft.com/office/drawing/2014/main" xmlns="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41">
              <a:extLst>
                <a:ext uri="{FF2B5EF4-FFF2-40B4-BE49-F238E27FC236}">
                  <a16:creationId xmlns:a16="http://schemas.microsoft.com/office/drawing/2014/main" xmlns="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xmlns="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866080" y="3275533"/>
              <a:ext cx="24776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chemeClr val="bg1"/>
                  </a:solidFill>
                  <a:latin typeface="Arial Armenian" pitchFamily="34" charset="0"/>
                </a:rPr>
                <a:t>ա</a:t>
              </a:r>
              <a:r>
                <a:rPr lang="hy-AM" sz="2200" b="1" dirty="0" smtClean="0">
                  <a:solidFill>
                    <a:schemeClr val="bg1"/>
                  </a:solidFill>
                </a:rPr>
                <a:t>ղտոտում</a:t>
              </a:r>
              <a:endParaRPr lang="en-US" sz="2200" b="1" dirty="0">
                <a:solidFill>
                  <a:schemeClr val="bg1"/>
                </a:solidFill>
                <a:latin typeface="Arial Armenian" pitchFamily="34" charset="0"/>
              </a:endParaRPr>
            </a:p>
          </p:txBody>
        </p:sp>
        <p:pic>
          <p:nvPicPr>
            <p:cNvPr id="108" name="Picture 43">
              <a:extLst>
                <a:ext uri="{FF2B5EF4-FFF2-40B4-BE49-F238E27FC236}">
                  <a16:creationId xmlns:a16="http://schemas.microsoft.com/office/drawing/2014/main" xmlns="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9" name="Group 44">
            <a:extLst>
              <a:ext uri="{FF2B5EF4-FFF2-40B4-BE49-F238E27FC236}">
                <a16:creationId xmlns:a16="http://schemas.microsoft.com/office/drawing/2014/main" xmlns="" id="{76789F00-2688-429D-926C-15F83152FDBE}"/>
              </a:ext>
            </a:extLst>
          </p:cNvPr>
          <p:cNvGrpSpPr/>
          <p:nvPr/>
        </p:nvGrpSpPr>
        <p:grpSpPr>
          <a:xfrm>
            <a:off x="-503648" y="1"/>
            <a:ext cx="10024958" cy="6858001"/>
            <a:chOff x="-9337032" y="-1"/>
            <a:chExt cx="9927504" cy="6858000"/>
          </a:xfrm>
        </p:grpSpPr>
        <p:sp>
          <p:nvSpPr>
            <p:cNvPr id="110" name="Rectangle 45">
              <a:extLst>
                <a:ext uri="{FF2B5EF4-FFF2-40B4-BE49-F238E27FC236}">
                  <a16:creationId xmlns:a16="http://schemas.microsoft.com/office/drawing/2014/main" xmlns="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Freeform: Shape 46">
              <a:extLst>
                <a:ext uri="{FF2B5EF4-FFF2-40B4-BE49-F238E27FC236}">
                  <a16:creationId xmlns:a16="http://schemas.microsoft.com/office/drawing/2014/main" xmlns="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xmlns="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281940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y-AM" sz="2400" b="1" dirty="0" smtClean="0">
                  <a:solidFill>
                    <a:srgbClr val="F0EEF0"/>
                  </a:solidFill>
                  <a:latin typeface="Tw Cen MT" panose="020B0602020104020603" pitchFamily="34" charset="0"/>
                </a:rPr>
                <a:t>վերջ</a:t>
              </a:r>
              <a:endParaRPr lang="en-US" sz="2400" b="1" dirty="0">
                <a:solidFill>
                  <a:srgbClr val="F0EEF0"/>
                </a:solidFill>
                <a:latin typeface="Arial Armenian" pitchFamily="34" charset="0"/>
              </a:endParaRPr>
            </a:p>
          </p:txBody>
        </p:sp>
        <p:pic>
          <p:nvPicPr>
            <p:cNvPr id="113" name="Picture 48">
              <a:extLst>
                <a:ext uri="{FF2B5EF4-FFF2-40B4-BE49-F238E27FC236}">
                  <a16:creationId xmlns:a16="http://schemas.microsoft.com/office/drawing/2014/main" xmlns="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723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1072</TotalTime>
  <Words>444</Words>
  <Application>Microsoft Office PowerPoint</Application>
  <PresentationFormat>Произвольный</PresentationFormat>
  <Paragraphs>63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Zähringer</dc:creator>
  <cp:lastModifiedBy>Noname</cp:lastModifiedBy>
  <cp:revision>70</cp:revision>
  <dcterms:created xsi:type="dcterms:W3CDTF">2017-01-05T13:17:27Z</dcterms:created>
  <dcterms:modified xsi:type="dcterms:W3CDTF">2023-05-03T18:26:17Z</dcterms:modified>
</cp:coreProperties>
</file>